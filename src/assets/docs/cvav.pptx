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57" r:id="rId3"/>
    <p:sldId id="262" r:id="rId4"/>
    <p:sldId id="263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9F91"/>
    <a:srgbClr val="0D95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93947" autoAdjust="0"/>
  </p:normalViewPr>
  <p:slideViewPr>
    <p:cSldViewPr snapToGrid="0">
      <p:cViewPr varScale="1">
        <p:scale>
          <a:sx n="101" d="100"/>
          <a:sy n="101" d="100"/>
        </p:scale>
        <p:origin x="9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02B13-2E3B-4937-A80C-F8542F7A2A27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349593-C121-47BC-90AD-AD7121BF2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430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B486-AB7C-BE76-7CCD-8D6535CD6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F13B5-1CFD-4CC7-2DE6-116779418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904FE-3240-356A-B478-78D814657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6B64D-17CF-4EBE-BB09-E8CFFF97A7E8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4100C-2562-FAE4-E35D-D7AEE0C9C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C94C5-7E77-DE1B-0B3A-39D0FF4F1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83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F4522-EA86-39DB-0495-428B80409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C1A2-8D21-ECA3-D84F-9BF21E321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A7B1A-EE44-B392-E315-BD405E545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44A4-F1D4-4CC9-A9FA-DDA6E1027BDC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1A016-E64F-595B-42D3-EF4D1E4D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36E1F-939F-6CA1-9584-E707CEA48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42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E7D80-B27A-3663-0D5F-02632E54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C3502-88BC-EFC1-C604-301E71F98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B301D-E86C-45DA-B84E-52BB845A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B019-2B9A-41EA-86A8-0693D4CF59F3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25B6B-BB13-BDA7-0D54-FC779721F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0B338-9C77-BF41-97BE-B7451DDB5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517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F5C96-2692-5390-B174-3F8D5275B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1D572-21C7-962C-3554-580BD6A0E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02374-8C30-FDA4-D1F1-3D3AC7A3C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DD60E-BF3E-F170-6FE6-767AA207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B445-5D79-4737-B4EA-F5ACBE964725}" type="datetime1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BF694-AAAD-D648-89B2-25445A1F1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4184A-14F5-95A3-56F6-C67A8C62C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07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275B-7091-8B56-00A9-80F81C9A3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93548-C381-B8AB-2EA6-BDF4F1201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47E3C-9C5D-68D2-CC62-E8817A2F2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539B90-91A6-67AA-3649-2C476B02E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469535-2F02-A87A-3B97-8E95ECDAA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897394-1636-1DD8-1D26-A817F57A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36A6-56C5-4009-A2C4-7B9F644667C9}" type="datetime1">
              <a:rPr lang="en-IN" smtClean="0"/>
              <a:t>29-08-2025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86A9D4-0F89-9C44-F4AE-644D2ADF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16408B-948B-C49B-2C36-120431AA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255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C54B4-9629-8A41-DBDA-AD65B606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A3F21-362E-ED45-81D0-90662372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57C9-EC40-4CCE-BA9B-C5B8F54A21FA}" type="datetime1">
              <a:rPr lang="en-IN" smtClean="0"/>
              <a:t>29-08-2025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D72F7A-1015-9413-929C-F2E9D4C30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088D3-7496-A0AD-74A9-B5036B9FA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149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F3C5BB-88E6-6396-D462-52142E58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9A05F-4DF1-4654-AAED-4E195583598A}" type="datetime1">
              <a:rPr lang="en-IN" smtClean="0"/>
              <a:t>29-08-2025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7843A2-DA9E-7728-A637-BE5C8D66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026E0-BD1F-2E4F-6289-86842B2D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317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3B32-C5C8-F5D6-2692-97E2E34D0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9E5C1-F176-5D85-61ED-99E3053D1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9C065-3C28-0601-9DA9-903DABC47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DA5BB-030A-B400-1200-E4E1817F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7FC4E-C338-4B77-AED2-8F9877714131}" type="datetime1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44D15-0568-C97C-8C65-40FC8476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00C80-2D82-5160-8982-EA22A7CF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28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5348-CE2C-13ED-4A37-EE996623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CB1477-D01E-FCE2-36A9-E8FCC182F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CD1B2-2573-B8F9-9D01-E1F2E6E8F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5F90E-11A5-03BE-53AE-C0F5EF33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DD2CA-1F17-4387-8247-B2008BAA033C}" type="datetime1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A9759-1D33-C861-A14B-F6E56BA0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D9FC4-C00E-262B-208D-41882CB0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493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BEB9-D24F-4C2F-21C5-2F57D32B9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5472C-20C9-C163-07EB-ACE6FA3A3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E85C9-A54C-31C2-D3B0-D572A881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62A5D-F62C-45F0-A975-E79B26D596EE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2AF78-B541-2727-11EF-6BF4254F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6EC4A-F6E3-6BAD-1019-08DF0DE0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72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C1D2D-E89C-C306-3D2F-F71DC81900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D12E7-72C8-585F-ECE3-5A295C51C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6275A-D399-A5A5-97C7-5538D43E3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6BD1B-8AD7-4C34-9540-8261ECEBE70E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F8C70-63E8-39E2-8C55-2DE527A98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583C9-B636-E8A1-0CF6-54CC980A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57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516194-9EF9-E5F8-035A-344402E32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DE46A-6472-EB08-F82C-AC72824F2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9C73F-458A-8FA0-693D-6E78493E6D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E7F26-8FCF-4005-A74F-E5451CC18BD3}" type="datetime1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AA21A-E08F-D2B3-B51C-FBFE9CFA1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29A83-39C5-6BA9-260F-CB9CAA7A3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03BA5-8910-48D0-9FD0-1EF65FF5B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37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562446-29E1-BA89-0CDB-EFA9B5C093B7}"/>
              </a:ext>
            </a:extLst>
          </p:cNvPr>
          <p:cNvSpPr txBox="1"/>
          <p:nvPr/>
        </p:nvSpPr>
        <p:spPr>
          <a:xfrm>
            <a:off x="612618" y="1379907"/>
            <a:ext cx="10490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Sum of the weighted REFSYS values of all satellites available, with respect to their elevation angles </a:t>
            </a:r>
            <a:endParaRPr lang="en-IN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C17BF7-1520-3C91-EC51-6A9ED26F32F7}"/>
                  </a:ext>
                </a:extLst>
              </p:cNvPr>
              <p:cNvSpPr txBox="1"/>
              <p:nvPr/>
            </p:nvSpPr>
            <p:spPr>
              <a:xfrm>
                <a:off x="691023" y="2187138"/>
                <a:ext cx="5166863" cy="7918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𝑅𝑒𝑓𝑠𝑦𝑠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𝑅𝑒𝑓𝑠𝑦𝑠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∗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𝑠𝑖𝑛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𝐸𝐿𝑉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𝑠𝑖𝑛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𝐸𝐿𝑉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C17BF7-1520-3C91-EC51-6A9ED26F3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23" y="2187138"/>
                <a:ext cx="5166863" cy="7918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D2E87A-3B6C-0789-13C8-8D477D9FFDE7}"/>
                  </a:ext>
                </a:extLst>
              </p:cNvPr>
              <p:cNvSpPr txBox="1"/>
              <p:nvPr/>
            </p:nvSpPr>
            <p:spPr>
              <a:xfrm>
                <a:off x="6531430" y="2157214"/>
                <a:ext cx="5199565" cy="7918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𝑅𝑒𝑓𝑠𝑦𝑠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𝑅𝑒𝑓𝑠𝑦𝑠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∗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𝑠𝑖𝑛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𝐸𝐿𝑉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𝑠𝑖𝑛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𝐸𝐿𝑉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D2E87A-3B6C-0789-13C8-8D477D9FF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0" y="2157214"/>
                <a:ext cx="5199565" cy="7918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6527ED-F6F4-2B8C-5224-E60787EB406F}"/>
                  </a:ext>
                </a:extLst>
              </p:cNvPr>
              <p:cNvSpPr txBox="1"/>
              <p:nvPr/>
            </p:nvSpPr>
            <p:spPr>
              <a:xfrm>
                <a:off x="612618" y="4426551"/>
                <a:ext cx="6908943" cy="7918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𝐶𝑜𝑚𝑚𝑜𝑛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𝑉𝑖𝑒𝑤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𝑒𝑎𝑐h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𝑒𝑝𝑜𝑐h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𝑅𝑒𝑓𝑠𝑦𝑠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(1,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𝑅𝑒𝑓𝑠𝑦𝑠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(2,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6527ED-F6F4-2B8C-5224-E60787EB4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18" y="4426551"/>
                <a:ext cx="6908943" cy="7918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B38DC8-FE3F-1CB9-33C7-0E846A7B466A}"/>
                  </a:ext>
                </a:extLst>
              </p:cNvPr>
              <p:cNvSpPr txBox="1"/>
              <p:nvPr/>
            </p:nvSpPr>
            <p:spPr>
              <a:xfrm>
                <a:off x="612619" y="5970402"/>
                <a:ext cx="73999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Bookman Old Style" panose="02050604050505020204" pitchFamily="18" charset="0"/>
                  </a:rPr>
                  <a:t>All-in-view at each epoch  =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𝑅𝑒𝑓𝑠𝑦𝑠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latin typeface="Bookman Old Style" panose="02050604050505020204" pitchFamily="18" charset="0"/>
                  </a:rPr>
                  <a:t>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𝑤𝑒𝑖𝑔h𝑡𝑒𝑑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𝑅𝑒𝑓𝑠𝑦𝑠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baseline="-250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B38DC8-FE3F-1CB9-33C7-0E846A7B4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19" y="5970402"/>
                <a:ext cx="7399974" cy="369332"/>
              </a:xfrm>
              <a:prstGeom prst="rect">
                <a:avLst/>
              </a:prstGeom>
              <a:blipFill>
                <a:blip r:embed="rId5"/>
                <a:stretch>
                  <a:fillRect l="-659" t="-655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F9803C0-CCB1-1107-8E0C-68D08CC2ECD0}"/>
              </a:ext>
            </a:extLst>
          </p:cNvPr>
          <p:cNvSpPr txBox="1"/>
          <p:nvPr/>
        </p:nvSpPr>
        <p:spPr>
          <a:xfrm>
            <a:off x="645334" y="3248217"/>
            <a:ext cx="4721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Common – View method  </a:t>
            </a:r>
            <a:endParaRPr lang="en-IN" sz="20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2B46A4-2FB5-4ABE-3498-E93DA1DC2BD1}"/>
              </a:ext>
            </a:extLst>
          </p:cNvPr>
          <p:cNvSpPr txBox="1"/>
          <p:nvPr/>
        </p:nvSpPr>
        <p:spPr>
          <a:xfrm>
            <a:off x="612619" y="5474862"/>
            <a:ext cx="4122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All - in– View method  </a:t>
            </a:r>
            <a:endParaRPr lang="en-IN" sz="20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84CD5F-0D5F-141D-2372-D0DE31423890}"/>
              </a:ext>
            </a:extLst>
          </p:cNvPr>
          <p:cNvSpPr txBox="1"/>
          <p:nvPr/>
        </p:nvSpPr>
        <p:spPr>
          <a:xfrm>
            <a:off x="691023" y="956145"/>
            <a:ext cx="4881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Weighted </a:t>
            </a:r>
            <a:r>
              <a:rPr lang="en-US" sz="2000" b="1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Refsys</a:t>
            </a: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 of each receiver  </a:t>
            </a:r>
            <a:endParaRPr lang="en-IN" sz="20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71268-877E-BD54-318F-866892B16A1F}"/>
              </a:ext>
            </a:extLst>
          </p:cNvPr>
          <p:cNvSpPr txBox="1"/>
          <p:nvPr/>
        </p:nvSpPr>
        <p:spPr>
          <a:xfrm>
            <a:off x="612618" y="3800791"/>
            <a:ext cx="10490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Average of difference between </a:t>
            </a:r>
            <a:r>
              <a:rPr lang="en-US" dirty="0" err="1">
                <a:latin typeface="Bookman Old Style" panose="02050604050505020204" pitchFamily="18" charset="0"/>
              </a:rPr>
              <a:t>Refsys</a:t>
            </a:r>
            <a:r>
              <a:rPr lang="en-US" dirty="0">
                <a:latin typeface="Bookman Old Style" panose="02050604050505020204" pitchFamily="18" charset="0"/>
              </a:rPr>
              <a:t> values at each epoch  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7D4C3-836F-F99F-3223-B82DB46555A4}"/>
              </a:ext>
            </a:extLst>
          </p:cNvPr>
          <p:cNvSpPr txBox="1"/>
          <p:nvPr/>
        </p:nvSpPr>
        <p:spPr>
          <a:xfrm>
            <a:off x="3274454" y="225284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Calculation methods used</a:t>
            </a:r>
            <a:endParaRPr lang="en-IN" sz="24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F16CED8-E085-6C4B-D647-5E35FB2C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464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0C5D26-79BE-739A-E5C2-89FE90164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506496"/>
              </p:ext>
            </p:extLst>
          </p:nvPr>
        </p:nvGraphicFramePr>
        <p:xfrm>
          <a:off x="206861" y="1156392"/>
          <a:ext cx="4495770" cy="3790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295">
                  <a:extLst>
                    <a:ext uri="{9D8B030D-6E8A-4147-A177-3AD203B41FA5}">
                      <a16:colId xmlns:a16="http://schemas.microsoft.com/office/drawing/2014/main" val="3102827031"/>
                    </a:ext>
                  </a:extLst>
                </a:gridCol>
                <a:gridCol w="749295">
                  <a:extLst>
                    <a:ext uri="{9D8B030D-6E8A-4147-A177-3AD203B41FA5}">
                      <a16:colId xmlns:a16="http://schemas.microsoft.com/office/drawing/2014/main" val="892156143"/>
                    </a:ext>
                  </a:extLst>
                </a:gridCol>
                <a:gridCol w="749295">
                  <a:extLst>
                    <a:ext uri="{9D8B030D-6E8A-4147-A177-3AD203B41FA5}">
                      <a16:colId xmlns:a16="http://schemas.microsoft.com/office/drawing/2014/main" val="349560608"/>
                    </a:ext>
                  </a:extLst>
                </a:gridCol>
                <a:gridCol w="749295">
                  <a:extLst>
                    <a:ext uri="{9D8B030D-6E8A-4147-A177-3AD203B41FA5}">
                      <a16:colId xmlns:a16="http://schemas.microsoft.com/office/drawing/2014/main" val="117419879"/>
                    </a:ext>
                  </a:extLst>
                </a:gridCol>
                <a:gridCol w="749295">
                  <a:extLst>
                    <a:ext uri="{9D8B030D-6E8A-4147-A177-3AD203B41FA5}">
                      <a16:colId xmlns:a16="http://schemas.microsoft.com/office/drawing/2014/main" val="2802402311"/>
                    </a:ext>
                  </a:extLst>
                </a:gridCol>
                <a:gridCol w="749295">
                  <a:extLst>
                    <a:ext uri="{9D8B030D-6E8A-4147-A177-3AD203B41FA5}">
                      <a16:colId xmlns:a16="http://schemas.microsoft.com/office/drawing/2014/main" val="3523881383"/>
                    </a:ext>
                  </a:extLst>
                </a:gridCol>
              </a:tblGrid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SAT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MJD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STTIME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ELV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REFSYS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FRC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23850482"/>
                  </a:ext>
                </a:extLst>
              </a:tr>
              <a:tr h="457100"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hhmmss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.1dg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.1ns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7865332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392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-94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L1C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73073928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highlight>
                            <a:srgbClr val="808000"/>
                          </a:highlight>
                          <a:latin typeface="Bookman Old Style" panose="02050604050505020204" pitchFamily="18" charset="0"/>
                        </a:rPr>
                        <a:t>392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808000"/>
                        </a:highlight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-86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highlight>
                            <a:srgbClr val="FFFF00"/>
                          </a:highlight>
                          <a:latin typeface="Bookman Old Style" panose="02050604050505020204" pitchFamily="18" charset="0"/>
                        </a:rPr>
                        <a:t>L1P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35435189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392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247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L2C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643355141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392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-69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L2P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6241878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392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159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L5C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74558806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351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-25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L1C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791397095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highlight>
                            <a:srgbClr val="808000"/>
                          </a:highlight>
                          <a:latin typeface="Bookman Old Style" panose="02050604050505020204" pitchFamily="18" charset="0"/>
                        </a:rPr>
                        <a:t>351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808000"/>
                        </a:highlight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-8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highlight>
                            <a:srgbClr val="FFFF00"/>
                          </a:highlight>
                          <a:latin typeface="Bookman Old Style" panose="02050604050505020204" pitchFamily="18" charset="0"/>
                        </a:rPr>
                        <a:t>L1P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10287294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351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308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L2C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56560033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351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-26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L2P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315764655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697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-17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L1C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37681089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highlight>
                            <a:srgbClr val="808000"/>
                          </a:highlight>
                          <a:latin typeface="Bookman Old Style" panose="02050604050505020204" pitchFamily="18" charset="0"/>
                        </a:rPr>
                        <a:t>697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808000"/>
                        </a:highlight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highlight>
                            <a:srgbClr val="FFFF00"/>
                          </a:highlight>
                          <a:latin typeface="Bookman Old Style" panose="02050604050505020204" pitchFamily="18" charset="0"/>
                        </a:rPr>
                        <a:t>L1P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35267889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697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339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L2C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88613852"/>
                  </a:ext>
                </a:extLst>
              </a:tr>
              <a:tr h="23807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G18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60269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1400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697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>
                          <a:effectLst/>
                          <a:latin typeface="Bookman Old Style" panose="02050604050505020204" pitchFamily="18" charset="0"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u="none" strike="noStrike" dirty="0">
                          <a:effectLst/>
                          <a:latin typeface="Bookman Old Style" panose="02050604050505020204" pitchFamily="18" charset="0"/>
                        </a:rPr>
                        <a:t>L2P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4041913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020C6CC-5CD2-9196-75A2-A46DD4681AA8}"/>
              </a:ext>
            </a:extLst>
          </p:cNvPr>
          <p:cNvSpPr txBox="1"/>
          <p:nvPr/>
        </p:nvSpPr>
        <p:spPr>
          <a:xfrm>
            <a:off x="642831" y="757397"/>
            <a:ext cx="2924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ookman Old Style" panose="02050604050505020204" pitchFamily="18" charset="0"/>
              </a:rPr>
              <a:t>CGGTTS data snippet  </a:t>
            </a:r>
            <a:endParaRPr lang="en-IN" b="1" dirty="0">
              <a:latin typeface="Bookman Old Style" panose="0205060405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D474E5-E9A3-0BC6-6513-BD4FC3BB5A2E}"/>
              </a:ext>
            </a:extLst>
          </p:cNvPr>
          <p:cNvSpPr txBox="1"/>
          <p:nvPr/>
        </p:nvSpPr>
        <p:spPr>
          <a:xfrm>
            <a:off x="4918256" y="1909259"/>
            <a:ext cx="6864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Bookman Old Style" panose="02050604050505020204" pitchFamily="18" charset="0"/>
              </a:rPr>
              <a:t>Sum of the weighted REFSYS values of all satellites available, with </a:t>
            </a:r>
          </a:p>
          <a:p>
            <a:r>
              <a:rPr lang="en-US" sz="1600" dirty="0">
                <a:latin typeface="Bookman Old Style" panose="02050604050505020204" pitchFamily="18" charset="0"/>
              </a:rPr>
              <a:t>respect to their elevation angles </a:t>
            </a:r>
            <a:endParaRPr lang="en-IN" sz="1600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B57BD5-2411-4884-8D0C-5871441244DE}"/>
                  </a:ext>
                </a:extLst>
              </p:cNvPr>
              <p:cNvSpPr txBox="1"/>
              <p:nvPr/>
            </p:nvSpPr>
            <p:spPr>
              <a:xfrm>
                <a:off x="5032495" y="3171331"/>
                <a:ext cx="5450210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𝑅𝑒𝑓𝑠𝑦𝑠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𝑅𝑒𝑓𝑠𝑦𝑠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∗ 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𝑠𝑖𝑛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𝐸𝐿𝑉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𝑠𝑖𝑛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𝐸𝐿𝑉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den>
                          </m:f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B57BD5-2411-4884-8D0C-587144124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495" y="3171331"/>
                <a:ext cx="5450210" cy="7562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047FD76-8B2A-F52A-1BDF-486BF1B47510}"/>
              </a:ext>
            </a:extLst>
          </p:cNvPr>
          <p:cNvSpPr txBox="1"/>
          <p:nvPr/>
        </p:nvSpPr>
        <p:spPr>
          <a:xfrm>
            <a:off x="2163919" y="-14533"/>
            <a:ext cx="81560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Weighted </a:t>
            </a:r>
            <a:r>
              <a:rPr lang="en-US" sz="2400" b="1" u="sng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Refsys</a:t>
            </a:r>
            <a:r>
              <a:rPr lang="en-US" sz="2400" b="1" u="sng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: 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Performance of Receiver clock - GNSS(time) </a:t>
            </a:r>
            <a:endParaRPr lang="en-IN" sz="24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CA9FA1-8A98-2D93-338A-F89B30AD1ACF}"/>
                  </a:ext>
                </a:extLst>
              </p:cNvPr>
              <p:cNvSpPr txBox="1"/>
              <p:nvPr/>
            </p:nvSpPr>
            <p:spPr>
              <a:xfrm>
                <a:off x="2355422" y="5282158"/>
                <a:ext cx="8500019" cy="5950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𝑤𝑒𝑖𝑔h𝑡𝑒𝑑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𝑅𝑒𝑓𝑠𝑦𝑠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−8.6∗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39.2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−0.8∗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35.1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+0.1∗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(69.7)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39.2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35.1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69.7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CA9FA1-8A98-2D93-338A-F89B30AD1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422" y="5282158"/>
                <a:ext cx="8500019" cy="5950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D4F69C9-1528-2673-D2BC-2C2140256F65}"/>
              </a:ext>
            </a:extLst>
          </p:cNvPr>
          <p:cNvSpPr txBox="1"/>
          <p:nvPr/>
        </p:nvSpPr>
        <p:spPr>
          <a:xfrm>
            <a:off x="5032495" y="6212842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</a:t>
            </a:r>
            <a:r>
              <a:rPr lang="en-IN" sz="1800" dirty="0">
                <a:latin typeface="Bookman Old Style" panose="02050604050505020204" pitchFamily="18" charset="0"/>
              </a:rPr>
              <a:t>-2.24 ns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6402AC-07F2-BFC2-BC34-153260316562}"/>
              </a:ext>
            </a:extLst>
          </p:cNvPr>
          <p:cNvSpPr txBox="1"/>
          <p:nvPr/>
        </p:nvSpPr>
        <p:spPr>
          <a:xfrm>
            <a:off x="6772394" y="1231962"/>
            <a:ext cx="1970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Bookman Old Style" panose="02050604050505020204" pitchFamily="18" charset="0"/>
              </a:rPr>
              <a:t>At each epoch </a:t>
            </a:r>
            <a:endParaRPr lang="en-IN" b="1" dirty="0">
              <a:latin typeface="Bookman Old Style" panose="020506040505050202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2BD637-E623-A09E-0794-69FF49B8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39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41DF48-0C6D-BEC8-1440-0907DDAC3A6B}"/>
                  </a:ext>
                </a:extLst>
              </p:cNvPr>
              <p:cNvSpPr txBox="1"/>
              <p:nvPr/>
            </p:nvSpPr>
            <p:spPr>
              <a:xfrm>
                <a:off x="192455" y="4969615"/>
                <a:ext cx="11286423" cy="12562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CommonView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difference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𝑆𝐴𝑇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),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𝑓𝑟𝑒𝑞𝑢𝑒𝑛𝑐𝑦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𝑅𝑒𝑐𝑒𝑖𝑣𝑒𝑟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(1,2)</m:t>
                                  </m:r>
                                </m:e>
                              </m:eqArr>
                            </m:e>
                          </m:d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𝑅𝑒𝑓𝑠𝑦𝑠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d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𝑅𝑒𝑓𝑠𝑦𝑠</m:t>
                                      </m:r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−8.6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−12.2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0.1 −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−85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41DF48-0C6D-BEC8-1440-0907DDAC3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55" y="4969615"/>
                <a:ext cx="11286423" cy="12562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404286C-810E-87C4-3AE2-375F996F85C1}"/>
              </a:ext>
            </a:extLst>
          </p:cNvPr>
          <p:cNvSpPr txBox="1"/>
          <p:nvPr/>
        </p:nvSpPr>
        <p:spPr>
          <a:xfrm>
            <a:off x="684111" y="38542"/>
            <a:ext cx="11642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Example for calculation: </a:t>
            </a:r>
            <a:r>
              <a:rPr lang="en-US" sz="24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Common-view Performance at each epoch   </a:t>
            </a:r>
            <a:endParaRPr lang="en-IN" sz="24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5FAA77-1910-E315-A625-A94089B0B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522089"/>
              </p:ext>
            </p:extLst>
          </p:nvPr>
        </p:nvGraphicFramePr>
        <p:xfrm>
          <a:off x="200025" y="1560746"/>
          <a:ext cx="36576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215119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222811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124695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728053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778972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35025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MJD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STTIME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ELV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REFSYS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FRC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77162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hhmmss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.1dg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.1ns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427761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578903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G10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0000"/>
                          </a:highlight>
                        </a:rPr>
                        <a:t>-86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6895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648380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82655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L5C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6903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1400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5751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-8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632335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00429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88473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275607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G18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697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0000"/>
                          </a:highlight>
                        </a:rPr>
                        <a:t>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9528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339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96367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L2P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073097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6EF4E5-D2EA-6C85-27FB-565675E02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721682"/>
              </p:ext>
            </p:extLst>
          </p:nvPr>
        </p:nvGraphicFramePr>
        <p:xfrm>
          <a:off x="4676777" y="1560746"/>
          <a:ext cx="36576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7520410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903347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0893926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110182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379986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7399840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MJD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STTIME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ELV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REFSYS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FRC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03331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hhmmss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.1dg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.1ns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374608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8218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60269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488679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595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062534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092769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-70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92314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267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0000"/>
                          </a:highlight>
                        </a:rPr>
                        <a:t>-85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055321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10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835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0000"/>
                          </a:highlight>
                        </a:rPr>
                        <a:t>-122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389985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291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-40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32788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-104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238205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307118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595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L2P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686024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595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L3P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843671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L3P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728347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B039CE-0EE8-DA5E-66A2-84C258E7236C}"/>
              </a:ext>
            </a:extLst>
          </p:cNvPr>
          <p:cNvSpPr txBox="1"/>
          <p:nvPr/>
        </p:nvSpPr>
        <p:spPr>
          <a:xfrm>
            <a:off x="579433" y="764217"/>
            <a:ext cx="27029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GPS Receiver 1 data </a:t>
            </a:r>
          </a:p>
          <a:p>
            <a:pPr algn="ctr"/>
            <a:r>
              <a:rPr lang="en-US" sz="1400" dirty="0">
                <a:latin typeface="Bookman Old Style" panose="02050604050505020204" pitchFamily="18" charset="0"/>
              </a:rPr>
              <a:t>(CGGTTS V2E)</a:t>
            </a:r>
            <a:endParaRPr lang="en-IN" sz="1400" dirty="0"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52199-5855-2F1C-0797-8C6E0D108AA4}"/>
              </a:ext>
            </a:extLst>
          </p:cNvPr>
          <p:cNvSpPr txBox="1"/>
          <p:nvPr/>
        </p:nvSpPr>
        <p:spPr>
          <a:xfrm>
            <a:off x="5248837" y="764217"/>
            <a:ext cx="27029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GPS Receiver 2 data </a:t>
            </a:r>
          </a:p>
          <a:p>
            <a:pPr algn="ctr"/>
            <a:r>
              <a:rPr lang="en-US" sz="1400" dirty="0">
                <a:latin typeface="Bookman Old Style" panose="02050604050505020204" pitchFamily="18" charset="0"/>
              </a:rPr>
              <a:t>(CGGTTS V2)</a:t>
            </a:r>
            <a:endParaRPr lang="en-IN" sz="1400" dirty="0">
              <a:latin typeface="Bookman Old Style" panose="020506040505050202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6ADD6F-F757-4CD6-DFBC-B3E07CF9CAAE}"/>
              </a:ext>
            </a:extLst>
          </p:cNvPr>
          <p:cNvSpPr/>
          <p:nvPr/>
        </p:nvSpPr>
        <p:spPr>
          <a:xfrm>
            <a:off x="9028780" y="3123956"/>
            <a:ext cx="314325" cy="1809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AED58A-61D4-BCE3-8846-31FDE64513E8}"/>
              </a:ext>
            </a:extLst>
          </p:cNvPr>
          <p:cNvGrpSpPr/>
          <p:nvPr/>
        </p:nvGrpSpPr>
        <p:grpSpPr>
          <a:xfrm>
            <a:off x="9028780" y="2431137"/>
            <a:ext cx="2404411" cy="369332"/>
            <a:chOff x="9010650" y="1915596"/>
            <a:chExt cx="2404411" cy="36933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4014BA-036D-E061-D6C9-AD3AF2F80260}"/>
                </a:ext>
              </a:extLst>
            </p:cNvPr>
            <p:cNvSpPr/>
            <p:nvPr/>
          </p:nvSpPr>
          <p:spPr>
            <a:xfrm>
              <a:off x="9010650" y="2009775"/>
              <a:ext cx="314325" cy="18097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F7CB742-795C-668A-6ECD-8FA0EB40EDF3}"/>
                </a:ext>
              </a:extLst>
            </p:cNvPr>
            <p:cNvSpPr txBox="1"/>
            <p:nvPr/>
          </p:nvSpPr>
          <p:spPr>
            <a:xfrm>
              <a:off x="9424516" y="1915596"/>
              <a:ext cx="1990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Common Satellites </a:t>
              </a:r>
              <a:endParaRPr lang="en-IN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FD8CC4-AE70-5F32-C851-290200BBB233}"/>
              </a:ext>
            </a:extLst>
          </p:cNvPr>
          <p:cNvGrpSpPr/>
          <p:nvPr/>
        </p:nvGrpSpPr>
        <p:grpSpPr>
          <a:xfrm>
            <a:off x="9028780" y="1716218"/>
            <a:ext cx="3153911" cy="646331"/>
            <a:chOff x="9010650" y="2537541"/>
            <a:chExt cx="3153911" cy="6463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02D2605-0091-8E74-0DAA-EAE622E29329}"/>
                </a:ext>
              </a:extLst>
            </p:cNvPr>
            <p:cNvSpPr/>
            <p:nvPr/>
          </p:nvSpPr>
          <p:spPr>
            <a:xfrm>
              <a:off x="9010650" y="2631720"/>
              <a:ext cx="314325" cy="18097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DBA3986-7ECF-3D85-5444-FBC0F119EEAD}"/>
                </a:ext>
              </a:extLst>
            </p:cNvPr>
            <p:cNvSpPr txBox="1"/>
            <p:nvPr/>
          </p:nvSpPr>
          <p:spPr>
            <a:xfrm>
              <a:off x="9424516" y="2537541"/>
              <a:ext cx="27400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Choice of signal Frequency </a:t>
              </a:r>
            </a:p>
            <a:p>
              <a:r>
                <a:rPr lang="en-US" dirty="0"/>
                <a:t>(L1P) </a:t>
              </a:r>
              <a:endParaRPr lang="en-IN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F6F6DD7-ED66-80B4-BBBA-1F476ED1591D}"/>
              </a:ext>
            </a:extLst>
          </p:cNvPr>
          <p:cNvSpPr txBox="1"/>
          <p:nvPr/>
        </p:nvSpPr>
        <p:spPr>
          <a:xfrm>
            <a:off x="9442646" y="3035229"/>
            <a:ext cx="2089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Refsys</a:t>
            </a:r>
            <a:r>
              <a:rPr lang="en-US" dirty="0"/>
              <a:t> values for CV </a:t>
            </a:r>
          </a:p>
          <a:p>
            <a:r>
              <a:rPr lang="en-US" dirty="0"/>
              <a:t>(units: 0.1 ns)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E13E43-7939-93BD-68F7-73809A8A1492}"/>
              </a:ext>
            </a:extLst>
          </p:cNvPr>
          <p:cNvSpPr txBox="1"/>
          <p:nvPr/>
        </p:nvSpPr>
        <p:spPr>
          <a:xfrm>
            <a:off x="7431439" y="5856524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= 6.1 ns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F14282-CAD0-905F-0FF2-33F97164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404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20C6CC-5CD2-9196-75A2-A46DD4681AA8}"/>
              </a:ext>
            </a:extLst>
          </p:cNvPr>
          <p:cNvSpPr txBox="1"/>
          <p:nvPr/>
        </p:nvSpPr>
        <p:spPr>
          <a:xfrm>
            <a:off x="3454513" y="636906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At each epoch 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04286C-810E-87C4-3AE2-375F996F85C1}"/>
              </a:ext>
            </a:extLst>
          </p:cNvPr>
          <p:cNvSpPr txBox="1"/>
          <p:nvPr/>
        </p:nvSpPr>
        <p:spPr>
          <a:xfrm>
            <a:off x="1378797" y="95112"/>
            <a:ext cx="10080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Example for calculating</a:t>
            </a:r>
            <a:r>
              <a:rPr lang="en-US" sz="24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:  All-in-view Performance at an epoch</a:t>
            </a:r>
            <a:endParaRPr lang="en-IN" sz="24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5FAA77-1910-E315-A625-A94089B0B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214569"/>
              </p:ext>
            </p:extLst>
          </p:nvPr>
        </p:nvGraphicFramePr>
        <p:xfrm>
          <a:off x="281946" y="1468955"/>
          <a:ext cx="36576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42215119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222811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124695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7280534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778972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35025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MJD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STTIME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ELV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REFSYS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FRC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77162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hhmmss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.1dg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.1ns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427761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-94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578903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G10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808000"/>
                          </a:highlight>
                        </a:rPr>
                        <a:t>392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808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0000"/>
                          </a:highlight>
                        </a:rPr>
                        <a:t>-86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16895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648380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982655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392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L5C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766903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1400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65751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G15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808000"/>
                          </a:highlight>
                        </a:rPr>
                        <a:t>351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808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0000"/>
                          </a:highlight>
                        </a:rPr>
                        <a:t>-8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1632335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308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00429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-26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884733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-17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275607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G18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808000"/>
                          </a:highlight>
                        </a:rPr>
                        <a:t>697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808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0000"/>
                          </a:highlight>
                        </a:rPr>
                        <a:t>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19528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339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96367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G18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L2P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073097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6EF4E5-D2EA-6C85-27FB-565675E02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135486"/>
              </p:ext>
            </p:extLst>
          </p:nvPr>
        </p:nvGraphicFramePr>
        <p:xfrm>
          <a:off x="4758698" y="1468955"/>
          <a:ext cx="36576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7520410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903347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0893926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110182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379986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7399840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MJD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STTIME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ELV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REFSYS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FRC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103331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hhmmss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.1dg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.1ns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374608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-80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18218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488679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595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062534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L1C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092769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23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808000"/>
                          </a:highlight>
                        </a:rPr>
                        <a:t>458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808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0000"/>
                          </a:highlight>
                        </a:rPr>
                        <a:t>-70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192314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18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808000"/>
                          </a:highlight>
                        </a:rPr>
                        <a:t>267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808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0000"/>
                          </a:highlight>
                        </a:rPr>
                        <a:t>-85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1055321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10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808000"/>
                          </a:highlight>
                        </a:rPr>
                        <a:t>835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808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0000"/>
                          </a:highlight>
                        </a:rPr>
                        <a:t>-122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389985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00FF00"/>
                          </a:highlight>
                        </a:rPr>
                        <a:t>26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808000"/>
                          </a:highlight>
                        </a:rPr>
                        <a:t>291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808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0000"/>
                          </a:highlight>
                        </a:rPr>
                        <a:t>-40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00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L1P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32788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-104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238205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32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289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-88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L2P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307118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595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L2P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7686024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595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-23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L3P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843671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60269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1400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451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-4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L3P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728347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B039CE-0EE8-DA5E-66A2-84C258E7236C}"/>
              </a:ext>
            </a:extLst>
          </p:cNvPr>
          <p:cNvSpPr txBox="1"/>
          <p:nvPr/>
        </p:nvSpPr>
        <p:spPr>
          <a:xfrm>
            <a:off x="576158" y="656807"/>
            <a:ext cx="27029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GPS Receiver 1 data </a:t>
            </a:r>
          </a:p>
          <a:p>
            <a:pPr algn="ctr"/>
            <a:r>
              <a:rPr lang="en-US" sz="1400" dirty="0">
                <a:latin typeface="Bookman Old Style" panose="02050604050505020204" pitchFamily="18" charset="0"/>
              </a:rPr>
              <a:t>(CGGTTS V2E)</a:t>
            </a:r>
            <a:endParaRPr lang="en-IN" sz="1400" dirty="0"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52199-5855-2F1C-0797-8C6E0D108AA4}"/>
              </a:ext>
            </a:extLst>
          </p:cNvPr>
          <p:cNvSpPr txBox="1"/>
          <p:nvPr/>
        </p:nvSpPr>
        <p:spPr>
          <a:xfrm>
            <a:off x="5316342" y="683073"/>
            <a:ext cx="27029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GPS Receiver 2 data </a:t>
            </a:r>
          </a:p>
          <a:p>
            <a:pPr algn="ctr"/>
            <a:r>
              <a:rPr lang="en-US" sz="1400" dirty="0">
                <a:latin typeface="Bookman Old Style" panose="02050604050505020204" pitchFamily="18" charset="0"/>
              </a:rPr>
              <a:t>(CGGTTS V2)</a:t>
            </a:r>
            <a:endParaRPr lang="en-IN" sz="1400" dirty="0">
              <a:latin typeface="Bookman Old Style" panose="020506040505050202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FD8CC4-AE70-5F32-C851-290200BBB233}"/>
              </a:ext>
            </a:extLst>
          </p:cNvPr>
          <p:cNvGrpSpPr/>
          <p:nvPr/>
        </p:nvGrpSpPr>
        <p:grpSpPr>
          <a:xfrm>
            <a:off x="8875100" y="1341263"/>
            <a:ext cx="3101012" cy="646331"/>
            <a:chOff x="9010650" y="2537541"/>
            <a:chExt cx="3101012" cy="6463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02D2605-0091-8E74-0DAA-EAE622E29329}"/>
                </a:ext>
              </a:extLst>
            </p:cNvPr>
            <p:cNvSpPr/>
            <p:nvPr/>
          </p:nvSpPr>
          <p:spPr>
            <a:xfrm>
              <a:off x="9010650" y="2631720"/>
              <a:ext cx="314325" cy="18097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DBA3986-7ECF-3D85-5444-FBC0F119EEAD}"/>
                </a:ext>
              </a:extLst>
            </p:cNvPr>
            <p:cNvSpPr txBox="1"/>
            <p:nvPr/>
          </p:nvSpPr>
          <p:spPr>
            <a:xfrm>
              <a:off x="9424516" y="2537541"/>
              <a:ext cx="268714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Choice of signal Frequency</a:t>
              </a:r>
            </a:p>
            <a:p>
              <a:r>
                <a:rPr lang="en-US" dirty="0"/>
                <a:t> (L1P) </a:t>
              </a:r>
              <a:endParaRPr lang="en-IN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7314DB-08AD-6348-8C62-4531B2B587D9}"/>
              </a:ext>
            </a:extLst>
          </p:cNvPr>
          <p:cNvGrpSpPr/>
          <p:nvPr/>
        </p:nvGrpSpPr>
        <p:grpSpPr>
          <a:xfrm>
            <a:off x="8875100" y="3249916"/>
            <a:ext cx="2502898" cy="646331"/>
            <a:chOff x="9028780" y="2903110"/>
            <a:chExt cx="2502898" cy="64633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66ADD6F-F757-4CD6-DFBC-B3E07CF9CAAE}"/>
                </a:ext>
              </a:extLst>
            </p:cNvPr>
            <p:cNvSpPr/>
            <p:nvPr/>
          </p:nvSpPr>
          <p:spPr>
            <a:xfrm>
              <a:off x="9028780" y="2986301"/>
              <a:ext cx="314325" cy="18097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F6F6DD7-ED66-80B4-BBBA-1F476ED1591D}"/>
                </a:ext>
              </a:extLst>
            </p:cNvPr>
            <p:cNvSpPr txBox="1"/>
            <p:nvPr/>
          </p:nvSpPr>
          <p:spPr>
            <a:xfrm>
              <a:off x="9442645" y="2903110"/>
              <a:ext cx="20890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Refsys</a:t>
              </a:r>
              <a:r>
                <a:rPr lang="en-US" dirty="0"/>
                <a:t> values for AV </a:t>
              </a:r>
            </a:p>
            <a:p>
              <a:r>
                <a:rPr lang="en-US" dirty="0"/>
                <a:t>(units: 0.1 ns)</a:t>
              </a:r>
              <a:endParaRPr lang="en-IN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23D13D-7715-D595-3987-0278EA6B0D33}"/>
              </a:ext>
            </a:extLst>
          </p:cNvPr>
          <p:cNvGrpSpPr/>
          <p:nvPr/>
        </p:nvGrpSpPr>
        <p:grpSpPr>
          <a:xfrm>
            <a:off x="8875100" y="1987594"/>
            <a:ext cx="2999858" cy="646331"/>
            <a:chOff x="9028780" y="2293482"/>
            <a:chExt cx="2999858" cy="64633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95D7C70-D264-3F32-5B17-E17AE6FBBB8E}"/>
                </a:ext>
              </a:extLst>
            </p:cNvPr>
            <p:cNvSpPr/>
            <p:nvPr/>
          </p:nvSpPr>
          <p:spPr>
            <a:xfrm>
              <a:off x="9028780" y="2387661"/>
              <a:ext cx="314325" cy="180975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FDC81E-C9B5-C7A1-292F-150F8238EBA2}"/>
                </a:ext>
              </a:extLst>
            </p:cNvPr>
            <p:cNvSpPr txBox="1"/>
            <p:nvPr/>
          </p:nvSpPr>
          <p:spPr>
            <a:xfrm>
              <a:off x="9442645" y="2293482"/>
              <a:ext cx="2585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Elevation Angle </a:t>
              </a:r>
            </a:p>
            <a:p>
              <a:r>
                <a:rPr lang="en-US" dirty="0"/>
                <a:t>(unit 0.1 degrees)</a:t>
              </a:r>
              <a:endParaRPr lang="en-IN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014610-4067-B78E-820A-749FC64EFACD}"/>
              </a:ext>
            </a:extLst>
          </p:cNvPr>
          <p:cNvGrpSpPr/>
          <p:nvPr/>
        </p:nvGrpSpPr>
        <p:grpSpPr>
          <a:xfrm>
            <a:off x="8875100" y="2669171"/>
            <a:ext cx="2663264" cy="369332"/>
            <a:chOff x="9051201" y="2800269"/>
            <a:chExt cx="2663264" cy="36933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758D29-74D7-56A0-9F4C-1259C61729DC}"/>
                </a:ext>
              </a:extLst>
            </p:cNvPr>
            <p:cNvSpPr/>
            <p:nvPr/>
          </p:nvSpPr>
          <p:spPr>
            <a:xfrm>
              <a:off x="9051201" y="2894448"/>
              <a:ext cx="314325" cy="18097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B3FAF63-0164-D0F7-695E-663863CE9143}"/>
                </a:ext>
              </a:extLst>
            </p:cNvPr>
            <p:cNvSpPr txBox="1"/>
            <p:nvPr/>
          </p:nvSpPr>
          <p:spPr>
            <a:xfrm>
              <a:off x="9465067" y="2800269"/>
              <a:ext cx="2249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All available Satellites </a:t>
              </a:r>
              <a:endParaRPr lang="en-IN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9D43ED-FD15-D2B6-5431-534893FB3924}"/>
                  </a:ext>
                </a:extLst>
              </p:cNvPr>
              <p:cNvSpPr txBox="1"/>
              <p:nvPr/>
            </p:nvSpPr>
            <p:spPr>
              <a:xfrm>
                <a:off x="327803" y="4765768"/>
                <a:ext cx="9052671" cy="4604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weighted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Refsys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receiver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1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−8.6 ∗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39.2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−0.8 ∗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35.1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+0.1 ∗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69.7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39.2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35.1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69.7</m:t>
                            </m:r>
                          </m:e>
                        </m:d>
                      </m:den>
                    </m:f>
                  </m:oMath>
                </a14:m>
                <a:r>
                  <a:rPr lang="en-IN" dirty="0"/>
                  <a:t> </a:t>
                </a:r>
                <a:r>
                  <a:rPr lang="en-IN" dirty="0">
                    <a:latin typeface="Bookman Old Style" panose="02050604050505020204" pitchFamily="18" charset="0"/>
                  </a:rPr>
                  <a:t>= </a:t>
                </a:r>
                <a:r>
                  <a:rPr lang="en-IN" sz="1600" dirty="0">
                    <a:latin typeface="Bookman Old Style" panose="02050604050505020204" pitchFamily="18" charset="0"/>
                  </a:rPr>
                  <a:t>-2.24 ns</a:t>
                </a:r>
                <a:endParaRPr lang="en-IN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69D43ED-FD15-D2B6-5431-534893FB3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03" y="4765768"/>
                <a:ext cx="9052671" cy="460447"/>
              </a:xfrm>
              <a:prstGeom prst="rect">
                <a:avLst/>
              </a:prstGeom>
              <a:blipFill>
                <a:blip r:embed="rId2"/>
                <a:stretch>
                  <a:fillRect r="-337" b="-1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E056209-A269-16D6-CC16-AE1EB79461BF}"/>
                  </a:ext>
                </a:extLst>
              </p:cNvPr>
              <p:cNvSpPr txBox="1"/>
              <p:nvPr/>
            </p:nvSpPr>
            <p:spPr>
              <a:xfrm>
                <a:off x="361652" y="5593135"/>
                <a:ext cx="10473636" cy="4604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weighted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Refsys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receiver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7.0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∗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−8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∗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26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−12.2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∗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−4.0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∗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29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26.7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29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r>
                  <a:rPr lang="en-IN" dirty="0"/>
                  <a:t> </a:t>
                </a:r>
                <a:r>
                  <a:rPr lang="en-IN" dirty="0">
                    <a:latin typeface="Bookman Old Style" panose="02050604050505020204" pitchFamily="18" charset="0"/>
                  </a:rPr>
                  <a:t>= </a:t>
                </a:r>
                <a:r>
                  <a:rPr lang="en-IN" sz="1600" dirty="0">
                    <a:latin typeface="Bookman Old Style" panose="02050604050505020204" pitchFamily="18" charset="0"/>
                  </a:rPr>
                  <a:t>-9.43 ns</a:t>
                </a:r>
                <a:endParaRPr lang="en-IN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E056209-A269-16D6-CC16-AE1EB7946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52" y="5593135"/>
                <a:ext cx="10473636" cy="460447"/>
              </a:xfrm>
              <a:prstGeom prst="rect">
                <a:avLst/>
              </a:prstGeom>
              <a:blipFill>
                <a:blip r:embed="rId3"/>
                <a:stretch>
                  <a:fillRect r="-233" b="-1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8AC62981-A90C-3BA8-717F-9303EF210F5C}"/>
              </a:ext>
            </a:extLst>
          </p:cNvPr>
          <p:cNvSpPr txBox="1"/>
          <p:nvPr/>
        </p:nvSpPr>
        <p:spPr>
          <a:xfrm>
            <a:off x="327803" y="6293235"/>
            <a:ext cx="6155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All-in-view  performance = (-2.24) – (-9.43)  = 7.19 ns</a:t>
            </a:r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A96CDC-6425-56DC-F127-AFB27470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405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98DE1C-A90F-3665-E234-536AF4E6400D}"/>
              </a:ext>
            </a:extLst>
          </p:cNvPr>
          <p:cNvSpPr txBox="1"/>
          <p:nvPr/>
        </p:nvSpPr>
        <p:spPr>
          <a:xfrm>
            <a:off x="2387599" y="84226"/>
            <a:ext cx="7249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002060"/>
                </a:solidFill>
                <a:latin typeface="Bookman Old Style" panose="02050604050505020204" pitchFamily="18" charset="0"/>
              </a:rPr>
              <a:t>Recommendations for Data to be processed</a:t>
            </a:r>
            <a:r>
              <a:rPr lang="en-US" sz="24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:</a:t>
            </a:r>
            <a:endParaRPr lang="en-IN" sz="24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FDD72-EFA1-2C08-EE15-4D4AAAA3BCD9}"/>
              </a:ext>
            </a:extLst>
          </p:cNvPr>
          <p:cNvSpPr txBox="1"/>
          <p:nvPr/>
        </p:nvSpPr>
        <p:spPr>
          <a:xfrm>
            <a:off x="432430" y="1374322"/>
            <a:ext cx="11631710" cy="3816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ookman Old Style" panose="02050604050505020204" pitchFamily="18" charset="0"/>
              </a:rPr>
              <a:t>Please note that the </a:t>
            </a:r>
            <a:r>
              <a:rPr lang="en-US" sz="2000" dirty="0">
                <a:highlight>
                  <a:srgbClr val="FFFF00"/>
                </a:highlight>
                <a:latin typeface="Bookman Old Style" panose="02050604050505020204" pitchFamily="18" charset="0"/>
              </a:rPr>
              <a:t>name of the CGGTTS files </a:t>
            </a:r>
            <a:r>
              <a:rPr lang="en-US" sz="2000" dirty="0">
                <a:latin typeface="Bookman Old Style" panose="02050604050505020204" pitchFamily="18" charset="0"/>
              </a:rPr>
              <a:t>should be as per the CGGTTS format. 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   The application considers the first alphabet as the GNSS constellation as per the format.  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  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ookman Old Style" panose="02050604050505020204" pitchFamily="18" charset="0"/>
              </a:rPr>
              <a:t>It is preferable that two receivers' data should be of </a:t>
            </a:r>
            <a:r>
              <a:rPr lang="en-US" sz="2000" dirty="0">
                <a:highlight>
                  <a:srgbClr val="FFFF00"/>
                </a:highlight>
                <a:latin typeface="Bookman Old Style" panose="02050604050505020204" pitchFamily="18" charset="0"/>
              </a:rPr>
              <a:t>same CGGTTS data version 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    i.e., V1, V2 or V2E. The application works for all versions of GPS files. 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 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Bookman Old Style" panose="02050604050505020204" pitchFamily="18" charset="0"/>
              </a:rPr>
              <a:t>Common View or All-in-View can be performed only when the two sets of data files 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    belong to </a:t>
            </a:r>
            <a:r>
              <a:rPr lang="en-US" sz="2000" dirty="0">
                <a:highlight>
                  <a:srgbClr val="FFFF00"/>
                </a:highlight>
                <a:latin typeface="Bookman Old Style" panose="02050604050505020204" pitchFamily="18" charset="0"/>
              </a:rPr>
              <a:t>same GNSS constellation </a:t>
            </a:r>
          </a:p>
          <a:p>
            <a:endParaRPr lang="en-US" sz="2000" dirty="0">
              <a:latin typeface="Bookman Old Style" panose="02050604050505020204" pitchFamily="18" charset="0"/>
            </a:endParaRPr>
          </a:p>
          <a:p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D7817-0BFE-E3C6-45EA-8210AC7D4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3BA5-8910-48D0-9FD0-1EF65FF5B3C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753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12709</TotalTime>
  <Words>882</Words>
  <Application>Microsoft Office PowerPoint</Application>
  <PresentationFormat>Widescreen</PresentationFormat>
  <Paragraphs>498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Arial</vt:lpstr>
      <vt:lpstr>Bookman Old Style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Bharath VATTIKONDA</dc:creator>
  <cp:lastModifiedBy>Bharath V</cp:lastModifiedBy>
  <cp:revision>159</cp:revision>
  <dcterms:created xsi:type="dcterms:W3CDTF">2024-01-09T09:34:40Z</dcterms:created>
  <dcterms:modified xsi:type="dcterms:W3CDTF">2025-08-29T03:24:26Z</dcterms:modified>
</cp:coreProperties>
</file>